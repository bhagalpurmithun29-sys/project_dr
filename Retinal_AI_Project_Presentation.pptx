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/>
  </p:slideViewPr>
  <p:notesTextViewPr>
    <p:cViewPr varScale="1">
      <p:scale sx="100" sy="100"/>
      <p:origin x="0" y="0"/>
    </p:cViewPr>
  </p:notesTextViewPr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esProps" Target="presProps.xml"/>
  <Relationship Id="rId3" Type="http://schemas.openxmlformats.org/officeDocument/2006/relationships/viewProps" Target="viewProps.xml"/>
  <Relationship Id="rId4" Type="http://schemas.openxmlformats.org/officeDocument/2006/relationships/tableStyles" Target="tableStyles.xml"/>
  <Relationship Id="rId5" Type="http://schemas.openxmlformats.org/officeDocument/2006/relationships/slide" Target="slides/slide1.xml"/>
  <Relationship Id="rId6" Type="http://schemas.openxmlformats.org/officeDocument/2006/relationships/slide" Target="slides/slide2.xml"/>
  <Relationship Id="rId7" Type="http://schemas.openxmlformats.org/officeDocument/2006/relationships/slide" Target="slides/slide3.xml"/>
  <Relationship Id="rId8" Type="http://schemas.openxmlformats.org/officeDocument/2006/relationships/slide" Target="slides/slide4.xml"/>
  <Relationship Id="rId9" Type="http://schemas.openxmlformats.org/officeDocument/2006/relationships/slide" Target="slides/slide5.xml"/>
  <Relationship Id="rId10" Type="http://schemas.openxmlformats.org/officeDocument/2006/relationships/slide" Target="slides/slide6.xml"/>
  <Relationship Id="rId11" Type="http://schemas.openxmlformats.org/officeDocument/2006/relationships/slide" Target="slides/slide7.xml"/>
  <Relationship Id="rId12" Type="http://schemas.openxmlformats.org/officeDocument/2006/relationships/slide" Target="slides/slide8.xml"/>
  <Relationship Id="rId13" Type="http://schemas.openxmlformats.org/officeDocument/2006/relationships/slide" Target="slides/slide9.xml"/>
  <Relationship Id="rId14" Type="http://schemas.openxmlformats.org/officeDocument/2006/relationships/slide" Target="slides/slide10.xml"/>
  <Relationship Id="rId15" Type="http://schemas.openxmlformats.org/officeDocument/2006/relationships/slide" Target="slides/slide11.xml"/>
  <Relationship Id="rId16" Type="http://schemas.openxmlformats.org/officeDocument/2006/relationships/slide" Target="slides/slide12.xml"/>
  <Relationship Id="rId17" Type="http://schemas.openxmlformats.org/officeDocument/2006/relationships/slide" Target="slides/slide13.xml"/>
  <Relationship Id="rId18" Type="http://schemas.openxmlformats.org/officeDocument/2006/relationships/slide" Target="slides/slide14.xml"/>
  <Relationship Id="rId19" Type="http://schemas.openxmlformats.org/officeDocument/2006/relationships/slide" Target="slides/slide15.xml"/>
  <Relationship Id="rId20" Type="http://schemas.openxmlformats.org/officeDocument/2006/relationships/slide" Target="slides/slide16.xml"/>
  <Relationship Id="rId21" Type="http://schemas.openxmlformats.org/officeDocument/2006/relationships/slide" Target="slides/slide17.xml"/>
  <Relationship Id="rId22" Type="http://schemas.openxmlformats.org/officeDocument/2006/relationships/slide" Target="slides/slide18.xml"/>
  <Relationship Id="rId23" Type="http://schemas.openxmlformats.org/officeDocument/2006/relationships/slide" Target="slides/slide1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etinal AI Master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Retinal AI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AI-Powered Diabetic Retinopathy Screening Platform</a:t>
            </a:r>
            <a:endParaRPr lang="en-US" sz="2600"/>
          </a:p>
        </p:txBody>
      </p:sp>
      <p:sp>
        <p:nvSpPr>
          <p:cNvPr id="3" name="Subtitle"/>
          <p:cNvSpPr txBox="1"/>
          <p:nvPr/>
        </p:nvSpPr>
        <p:spPr>
          <a:xfrm>
            <a:off x="457200" y="141224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>
                <a:solidFill>
                  <a:srgbClr val="6B6256"/>
                </a:solidFill>
              </a:rPr>
              <a:t>Detailed project presentation based on the implemented full-stack application in this repository.</a:t>
            </a:r>
            <a:endParaRPr lang="en-US" sz="14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Project type: multi-role healthcare web platform for diabetic retinopathy screening and patient follow-up.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Core users: patients, doctors, diagnostic centers, technicians, and a super-admin reviewer.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Main value: connect retinal scan intake, AI-based grading, clinical review, reporting, appointments, and patient education in one system.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Use this as the opening slide. Introduce the product as a complete workflow platform rather than only an AI model demo.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 of 19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Executive Summary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What The Project Delivers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 React 19 + Vite frontend with role-based dashboards and protected navigation.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 Node.js + Express backend with JWT auth, Google login, MongoDB persistence, and Cloudinary uploads.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 Python ResNet50 inference pipeline for retinal image classification integrated through the backend.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 Groq Llama 3.3 powered assistant and AI-generated clinical report summaries.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Operational features beyond AI: profile setup, appointments, notifications, reporting, and admin verification.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Frame the platform as a product ecosystem. It is not just image classification; it includes user management and clinical operations.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2 of 19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Problem Statement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Why This System Is Needed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Diabetic retinopathy screening can be delayed when retinal scans must wait for manual review.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Hospitals and diagnostic centers often use fragmented tools for patient records, scan uploads, and specialist communication.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Patients need understandable results, appointment scheduling, and follow-up guidance after scans are reviewed.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Clinical systems also need role separation and verification before sensitive patient data becomes accessible.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Connect the medical problem with the software architecture problem: delay, fragmentation, and security.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3 of 19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Objectives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Project Goals And Stakeholders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Patients: register, complete profile, view reports, monitor analytics, chat with the diabetes assistant, and book appointments.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Doctors: maintain profile, review scan history, analyze cases, manage appointments, and receive notifications.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Diagnostic centers: create and manage patient records, upload scans, track reports, and refer cases for review.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Admin: verify doctor and diagnosis center registrations before they can access the system.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System goal: create a safe, traceable, end-to-end screening workflow with AI support.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Point out that stakeholder separation is reflected both in frontend routes and backend authorization rules.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4 of 19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Architecture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High-Level System Architecture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Frontend SPA: React application served by Vite in development and by Express in production.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Backend API: Express server exposes auth, patient, doctor, scan, notification, center, chat, and appointment endpoints.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Database: MongoDB stores users, profiles, scans, appointments, notifications, and chat history.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Media storage: Cloudinary handles uploaded profile photos and retinal scans.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AI pipeline: backend launches Python inference for ResNet50 classification and calls Groq for summary generation.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Mention that the server starts even if MongoDB is not ready, then responds with friendly 503 messages until connected.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5 of 19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Frontend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Frontend Architecture And User Experience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Main stack: React 19, React Router 7, Tailwind CSS 4, Framer Motion, Lucide icons, Recharts, and jsPDF.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Core routing covers landing, login, registration, forgot password, profile setup, dashboards, reports, analytics, AI assistant, and appointments.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Context providers manage authentication, theme selection, language selection, and chat state.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Role protection is enforced through `PrivateRoute` and `RoleRoute` components.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UI includes multilingual support, profile-completion utilities, toasts, alerts modals, and settings/preferences flows.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You can mention that the open file `DoctorRegistration.jsx` is part of the onboarding flow for doctor-specific profile capture.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6 of 19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Backend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Backend Modules And API Design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Server modules are split into controllers, routes, models, middleware, services, tests, and utility generators.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Routes include `/auth`, `/patients`, `/doctors`, `/scans`, `/notifications`, `/diagnosis-centers`, `/appointments`, and `/chat`.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Middleware includes JWT protection, role-based authorization, Cloudinary upload configuration, and CORS allowlist generation.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server includes API 404 handling, a global error handler, static asset serving, and a database connection retry loop.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Production mode serves the frontend build directly from the backend process.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slide is useful to explain maintainability: the project follows a recognizable layered Express structure.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7 of 19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Data Layer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Core Database Models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User model stores identity, role, verification state, password or Google ID, avatar, reset fields, and security questions.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 model stores demographics, diabetes-related profile details, risk level, patient ID, and diagnostic center link.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 model stores specialization, experience, degrees, contact info, photo, bio, and license number.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Scan model stores patient reference, image URL, eye side, AI result, confidence, findings, report summary, referral status, and bilateral flag.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Additional models cover diagnosis centers, appointments, notifications, and persistent chat history.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Highlight that the app uses Mongoose references between User and role-specific profile documents.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8 of 19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Security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Authentication, Authorization, And Safety Controls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JWT-based login is used for authenticated API access, with frontend request interceptors attaching tokens automatically.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Google OAuth login is supported through the backend auth controller and the frontend Google login flow.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 and diagnosis center accounts enter a `pending` verification state until approved by admin.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Security questions are required during profile setup and are used in password recovery flows.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Additional guardrails include password complexity validation, future-date DOB blocking, CORS allowlisting, and role-based route checks.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is one of the strongest slides for academic or clinical review because it shows the system considers governance, not only features.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9 of 19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AI Engine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Retinal Image Analysis Workflow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Uploaded scan images are stored and then analyzed through `backend/ai/resnet_predict.py`.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Python script loads a ResNet50 model with five output classes: Mild NPDR, Moderate NPDR, No DR, Proliferate DR, and Severe NPDR.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Softmax probabilities are converted into practical risk levels: Low, Moderate, or High risk.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backend stores prediction, confidence, findings, lesion proxy count, and generated insights on the scan record.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Groq Llama 3.3 then creates a structured clinical summary with impression, patient explanation, and recommendations.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Make it clear that the CNN handles classification while the LLM handles explanation and summarization.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10 of 19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Patient Flow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Patient Journey In The Application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 registers with email/password or Google, then completes profile setup and security questions.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 dashboard and analytics views expose profile progress, scan history, and risk trends.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Patient report screens provide access to reviewed scan outcomes and exported report content.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Appointments can be booked with doctors, with backend rules preventing same-slot and invalid-date bookings.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AI assistant provides diabetes-focused Q&amp;A with persistent conversation history stored in MongoDB.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Emphasize that patient engagement continues after diagnosis through reports, appointments, and education.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11 of 19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Center Flow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Diagnosis Center And Technician Workflow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Diagnosis centers can maintain their profile, manage patient records, and upload retinal scans.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Scan creation supports eye-side tagging and bilateral grouping using generated scan IDs.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If a center uploads a scan, the backend broadcasts notifications to doctors for review.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Centers can inspect historical scans and reports, giving them continuity across multiple visits.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Profile-completion utilities encourage centers to supply address, contact, type, license, and branding details.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slide shows the system supports real operational intake, not only doctor-side review.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12 of 19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Doctor Flow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Doctor Workflow And Clinical Review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Doctors maintain a detailed profile including specialization, degrees, experience, contact details, and photo.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 dashboards show scan queues, patient details, and prior screening history.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Doctors can trigger AI analysis, inspect confidence and findings, and review the generated clinical summary.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Doctors manage patient appointments and can update appointment status to pending, confirmed, rejected, or completed.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Notifications keep doctors aware of new diagnostic requests and workflow events.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If presenting live, explain that doctors remain in the loop for final review instead of handing decisions fully to AI.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13 of 19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Admin Flow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Administrator Verification Portal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Admin login is supported through the auth flow and opens a dedicated admin dashboard.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Admin can inspect doctor and diagnosis center accounts by status: pending, verified, or rejected.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Verification is not cosmetic; login access for those roles is blocked until approval is granted.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dashboard includes search, analytics cards, and segmented lists for account auditing.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This design reduces the risk of unverified clinical users gaining access to patient workflows.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Explain that governance is built into both backend checks and frontend management screens.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14 of 19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Supporting Systems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Appointments, Notifications, And Chat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Appointments enforce business rules: future scheduling, one appointment per doctor per day, and no duplicate active bookings.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Notification records support report, system, security, and appointment events and can be read, cleared, or deleted.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Chat history is stored per user, so the AI assistant session persists between visits.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assistant is intentionally constrained to diabetes-related topics for safer domain focus.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Speech recognition with silence detection allows hands-free message input on the frontend.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slide helps show product maturity: the app includes operational glue features that users actually need.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15 of 19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Quality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Validation, Testing, And Reliability Measures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Backend tests currently cover CORS configuration and patient password utility behavior using Node's built-in test runner.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Input validation exists for email format, password strength, DOB rules, message length, appointment constraints, and profile fields.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backend includes friendly 503 responses when MongoDB is unavailable instead of crashing immediately.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Database connection retry logic and placeholder image fallback improve resilience in imperfect deployment conditions.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Profile-completion scoring utilities are implemented for doctor, patient, and diagnosis center flows.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Be honest that testing exists but is still limited relative to the full feature set.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16 of 19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Deployment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Environment And Deployment Model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Root `npm run dev` runs backend and frontend concurrently for local development.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Frontend defaults to `http://localhost:5001/api` during local dev unless `VITE_API_BASE_URL` is supplied.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Backend expects environment variables such as `MONGO_URI`, `JWT_SECRET`, Google client values, and `GROQ_API_KEY`.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Frontend contains Vercel configuration while the backend can serve the production frontend build directly.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Cloudinary and MongoDB Atlas are external dependencies for media persistence and application data.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is the implementation-grounded deployment story visible from the repository, not a hypothetical cloud design.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17 of 19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Assessment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Strengths, Current Gaps, And Future Scope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Strengths: multi-role design, real AI integration, persistent data model, secure onboarding, and strong end-to-end workflow coverage.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Current gaps: limited automated test coverage, Python inference dependency management, and room for deeper audit logging and analytics.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Possible future work: model performance reporting, report approval workflows, stronger clinical explainability, calendar integration, and richer admin auditing.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codebase already provides a strong foundation for scaling into a production-grade retinal screening product.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This slide is important for viva, demo, or investor-style presentation because it shows balanced judgment.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18 of 19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7924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0B7A5C"/>
                </a:solidFill>
              </a:rPr>
              <a:t>Conclusion</a:t>
            </a:r>
            <a:endParaRPr lang="en-US" sz="1200"/>
          </a:p>
          <a:p>
            <a:pPr algn="l"/>
            <a:r>
              <a:rPr lang="en-US" sz="2600" b="1">
                <a:solidFill>
                  <a:srgbClr val="17202A"/>
                </a:solidFill>
              </a:rPr>
              <a:t>Project Conclusion</a:t>
            </a:r>
            <a:endParaRPr lang="en-US" sz="2600"/>
          </a:p>
        </p:txBody>
      </p:sp>
      <p:sp>
        <p:nvSpPr>
          <p:cNvPr id="4" name="Bullets"/>
          <p:cNvSpPr txBox="1"/>
          <p:nvPr/>
        </p:nvSpPr>
        <p:spPr>
          <a:xfrm>
            <a:off x="457200" y="2194560"/>
            <a:ext cx="5334000" cy="3749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Retinal AI combines healthcare workflow design with AI-assisted retinal screening in a single application.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repository demonstrates full-stack implementation depth across UI, API, database, security, and AI integration.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It is suitable to present as both a software engineering project and a healthcare technology solution.</a:t>
            </a:r>
            <a:endParaRPr lang="en-US" sz="1500"/>
          </a:p>
          <a:p>
            <a:pPr marL="342900" indent="-285750">
              <a:buChar char="•"/>
            </a:pPr>
            <a:r>
              <a:rPr lang="en-US" sz="1500">
                <a:solidFill>
                  <a:srgbClr val="23303B"/>
                </a:solidFill>
              </a:rPr>
              <a:t>The generated presentation assets can now be used directly for classroom, demo day, or stakeholder presentation.</a:t>
            </a:r>
            <a:endParaRPr lang="en-US" sz="1500"/>
          </a:p>
        </p:txBody>
      </p:sp>
      <p:sp>
        <p:nvSpPr>
          <p:cNvPr id="5" name="Notes"/>
          <p:cNvSpPr txBox="1"/>
          <p:nvPr/>
        </p:nvSpPr>
        <p:spPr>
          <a:xfrm>
            <a:off x="6126480" y="2194560"/>
            <a:ext cx="2458720" cy="3026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b="1">
                <a:solidFill>
                  <a:srgbClr val="153243"/>
                </a:solidFill>
              </a:rPr>
              <a:t>Speaker Notes</a:t>
            </a:r>
            <a:endParaRPr lang="en-US" sz="1200"/>
          </a:p>
          <a:p>
            <a:pPr algn="l"/>
            <a:r>
              <a:rPr lang="en-US" sz="1300">
                <a:solidFill>
                  <a:srgbClr val="30444A"/>
                </a:solidFill>
              </a:rPr>
              <a:t>Close by tying together technical depth and healthcare impact.</a:t>
            </a:r>
            <a:endParaRPr lang="en-US" sz="1300"/>
          </a:p>
        </p:txBody>
      </p:sp>
      <p:sp>
        <p:nvSpPr>
          <p:cNvPr id="6" name="Footer"/>
          <p:cNvSpPr txBox="1"/>
          <p:nvPr/>
        </p:nvSpPr>
        <p:spPr>
          <a:xfrm>
            <a:off x="457200" y="6223000"/>
            <a:ext cx="7924800" cy="2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>
                <a:solidFill>
                  <a:srgbClr val="0B7A5C"/>
                </a:solidFill>
              </a:rPr>
              <a:t>Retinal AI Project Presentation  |  Slide 19 of 19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inal AI Theme">
  <a:themeElements>
    <a:clrScheme name="Retinal AI">
      <a:dk1>
        <a:srgbClr val="111827"/>
      </a:dk1>
      <a:lt1>
        <a:srgbClr val="FFFDF9"/>
      </a:lt1>
      <a:dk2>
        <a:srgbClr val="153243"/>
      </a:dk2>
      <a:lt2>
        <a:srgbClr val="F6F0E7"/>
      </a:lt2>
      <a:accent1>
        <a:srgbClr val="0B7A5C"/>
      </a:accent1>
      <a:accent2>
        <a:srgbClr val="153243"/>
      </a:accent2>
      <a:accent3>
        <a:srgbClr val="D99A2B"/>
      </a:accent3>
      <a:accent4>
        <a:srgbClr val="A44A3F"/>
      </a:accent4>
      <a:accent5>
        <a:srgbClr val="4F6D7A"/>
      </a:accent5>
      <a:accent6>
        <a:srgbClr val="7C6F64"/>
      </a:accent6>
      <a:hlink>
        <a:srgbClr val="0B7A5C"/>
      </a:hlink>
      <a:folHlink>
        <a:srgbClr val="7C6F64"/>
      </a:folHlink>
    </a:clrScheme>
    <a:fontScheme name="Retinal AI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Retinal AI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accent1"/>
          </a:solidFill>
        </a:ln>
        <a:ln w="25400" cap="flat" cmpd="sng" algn="ctr">
          <a:solidFill>
            <a:schemeClr val="accent2"/>
          </a:solidFill>
        </a:ln>
        <a:ln w="38100" cap="flat" cmpd="sng" algn="ctr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accen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19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20" baseType="lpstr">
      <vt:lpstr>Office Theme</vt:lpstr>
      <vt:lpstr>AI-Powered Diabetic Retinopathy Screening Platform</vt:lpstr>
      <vt:lpstr>What The Project Delivers</vt:lpstr>
      <vt:lpstr>Why This System Is Needed</vt:lpstr>
      <vt:lpstr>Project Goals And Stakeholders</vt:lpstr>
      <vt:lpstr>High-Level System Architecture</vt:lpstr>
      <vt:lpstr>Frontend Architecture And User Experience</vt:lpstr>
      <vt:lpstr>Backend Modules And API Design</vt:lpstr>
      <vt:lpstr>Core Database Models</vt:lpstr>
      <vt:lpstr>Authentication, Authorization, And Safety Controls</vt:lpstr>
      <vt:lpstr>Retinal Image Analysis Workflow</vt:lpstr>
      <vt:lpstr>Patient Journey In The Application</vt:lpstr>
      <vt:lpstr>Diagnosis Center And Technician Workflow</vt:lpstr>
      <vt:lpstr>Doctor Workflow And Clinical Review</vt:lpstr>
      <vt:lpstr>Administrator Verification Portal</vt:lpstr>
      <vt:lpstr>Appointments, Notifications, And Chat</vt:lpstr>
      <vt:lpstr>Validation, Testing, And Reliability Measures</vt:lpstr>
      <vt:lpstr>Environment And Deployment Model</vt:lpstr>
      <vt:lpstr>Strengths, Current Gaps, And Future Scope</vt:lpstr>
      <vt:lpstr>Project Conclusion</vt:lpstr>
    </vt:vector>
  </TitlesOfParts>
  <Company>OpenAI Codex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Retinal AI Project Presentation</dc:title>
  <dc:subject>Detailed project presentation</dc:subject>
  <dc:creator>OpenAI Codex</dc:creator>
  <cp:keywords>retinal ai, diabetic retinopathy, project presentation</cp:keywords>
  <dc:description>Detailed project presentation generated from the repository implementation.</dc:description>
  <cp:lastModifiedBy>OpenAI Codex</cp:lastModifiedBy>
  <dcterms:created xsi:type="dcterms:W3CDTF">2026-05-08T21:39:27.724Z</dcterms:created>
  <dcterms:modified xsi:type="dcterms:W3CDTF">2026-05-08T21:39:27.724Z</dcterms:modified>
</cp:coreProperties>
</file>